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</a:t>
            </a:r>
            <a:r>
              <a:rPr lang="en-US" baseline="0"/>
              <a:t> Revenue Sales ( 2024 vs 2025)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599138135902026"/>
          <c:y val="0.12573439412484702"/>
          <c:w val="0.80137280375164377"/>
          <c:h val="0.60310912788288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Sheet1!$D$20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Sheet1!$C$21:$C$32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Sheet1!$D$21:$D$32</c:f>
              <c:numCache>
                <c:formatCode>General</c:formatCode>
                <c:ptCount val="12"/>
                <c:pt idx="0">
                  <c:v>164081</c:v>
                </c:pt>
                <c:pt idx="1">
                  <c:v>50790</c:v>
                </c:pt>
                <c:pt idx="2">
                  <c:v>59240</c:v>
                </c:pt>
                <c:pt idx="3">
                  <c:v>44097</c:v>
                </c:pt>
                <c:pt idx="4">
                  <c:v>32575</c:v>
                </c:pt>
                <c:pt idx="5">
                  <c:v>168520</c:v>
                </c:pt>
                <c:pt idx="6">
                  <c:v>571972</c:v>
                </c:pt>
                <c:pt idx="7">
                  <c:v>167460</c:v>
                </c:pt>
                <c:pt idx="8">
                  <c:v>77950</c:v>
                </c:pt>
                <c:pt idx="9">
                  <c:v>358332</c:v>
                </c:pt>
                <c:pt idx="10">
                  <c:v>1514934</c:v>
                </c:pt>
                <c:pt idx="11">
                  <c:v>516860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82-41CC-8B51-A2B86ABAB68A}"/>
            </c:ext>
          </c:extLst>
        </c:ser>
        <c:ser>
          <c:idx val="1"/>
          <c:order val="1"/>
          <c:tx>
            <c:strRef>
              <c:f>Sheet1!$E$20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Sheet1!$C$21:$C$32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Sheet1!$E$21:$E$32</c:f>
              <c:numCache>
                <c:formatCode>General</c:formatCode>
                <c:ptCount val="12"/>
                <c:pt idx="0">
                  <c:v>178790</c:v>
                </c:pt>
                <c:pt idx="1">
                  <c:v>64370</c:v>
                </c:pt>
                <c:pt idx="2">
                  <c:v>23193</c:v>
                </c:pt>
                <c:pt idx="3">
                  <c:v>5595</c:v>
                </c:pt>
                <c:pt idx="4">
                  <c:v>41710</c:v>
                </c:pt>
                <c:pt idx="5">
                  <c:v>161691</c:v>
                </c:pt>
                <c:pt idx="6">
                  <c:v>490047</c:v>
                </c:pt>
                <c:pt idx="7">
                  <c:v>177495</c:v>
                </c:pt>
                <c:pt idx="8">
                  <c:v>29500</c:v>
                </c:pt>
                <c:pt idx="9">
                  <c:v>38075</c:v>
                </c:pt>
                <c:pt idx="10">
                  <c:v>147980</c:v>
                </c:pt>
                <c:pt idx="11">
                  <c:v>31330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82-41CC-8B51-A2B86ABAB6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086095"/>
        <c:axId val="1304078415"/>
      </c:barChart>
      <c:catAx>
        <c:axId val="130408609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078415"/>
        <c:crosses val="autoZero"/>
        <c:auto val="1"/>
        <c:lblAlgn val="ctr"/>
        <c:lblOffset val="100"/>
        <c:noMultiLvlLbl val="0"/>
      </c:catAx>
      <c:valAx>
        <c:axId val="1304078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</a:t>
                </a:r>
                <a:r>
                  <a:rPr lang="en-US" baseline="0"/>
                  <a:t> Revenue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086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78496-88F7-4FCC-8023-5F9154062BD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00769-784F-48FE-B429-B4629FCDC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7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00769-784F-48FE-B429-B4629FCDCD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53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00769-784F-48FE-B429-B4629FCDCD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0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01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9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1" y="91547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8" y="32280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7" y="609603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67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8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4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685802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4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1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3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5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6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4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88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7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801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6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3" y="914400"/>
            <a:ext cx="3280975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3" y="2777067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93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1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1" y="3843867"/>
            <a:ext cx="8304211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09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9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7548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07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3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4021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766734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5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49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4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26000"/>
            <a:lum/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colorTemperature colorTemp="4913"/>
                    </a14:imgEffect>
                    <a14:imgEffect>
                      <a14:saturation sat="178000"/>
                    </a14:imgEffect>
                    <a14:imgEffect>
                      <a14:brightnessContrast contrast="-14000"/>
                    </a14:imgEffect>
                  </a14:imgLayer>
                </a14:imgProps>
              </a:ext>
            </a:extLst>
          </a:blip>
          <a:srcRect/>
          <a:stretch>
            <a:fillRect t="-40000" b="-4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5"/>
            <a:ext cx="2981859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4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2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2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7AC489B-4AC2-4094-8AC6-8DF9AC8A926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2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7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BFC210E-E8D7-45FF-A99D-7D5D9097B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014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x.com/ogeiitm/status/2031339889481167084/photo/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10.jpg"/><Relationship Id="rId7" Type="http://schemas.openxmlformats.org/officeDocument/2006/relationships/hyperlink" Target="https://insight.knowledgeworkx.com/articles/global-intelligence/533/how-global-is-your-company-s-dn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g"/><Relationship Id="rId11" Type="http://schemas.openxmlformats.org/officeDocument/2006/relationships/hyperlink" Target="https://iabac.org/blog/what-is-data-analytics-job" TargetMode="External"/><Relationship Id="rId5" Type="http://schemas.openxmlformats.org/officeDocument/2006/relationships/image" Target="../media/image11.jpg"/><Relationship Id="rId10" Type="http://schemas.openxmlformats.org/officeDocument/2006/relationships/image" Target="../media/image14.jpg"/><Relationship Id="rId4" Type="http://schemas.openxmlformats.org/officeDocument/2006/relationships/hyperlink" Target="https://www.rawpixel.com/search/inventory%20tif%20warehouse%20architecture%20light" TargetMode="External"/><Relationship Id="rId9" Type="http://schemas.openxmlformats.org/officeDocument/2006/relationships/hyperlink" Target="https://geobrava.geoactivegroup.com/2020/03/how-b2b-marketers-fuel-predictable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usinessperson on a computer">
            <a:extLst>
              <a:ext uri="{FF2B5EF4-FFF2-40B4-BE49-F238E27FC236}">
                <a16:creationId xmlns:a16="http://schemas.microsoft.com/office/drawing/2014/main" id="{F9B75BBE-EEE6-8883-697F-F9C98AD4B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37" y="2045305"/>
            <a:ext cx="4142312" cy="2330050"/>
          </a:xfrm>
          <a:prstGeom prst="flowChartDelay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6314DD-3CCE-C66B-F1B8-CB128A80BC50}"/>
              </a:ext>
            </a:extLst>
          </p:cNvPr>
          <p:cNvSpPr txBox="1"/>
          <p:nvPr/>
        </p:nvSpPr>
        <p:spPr>
          <a:xfrm>
            <a:off x="1789471" y="162143"/>
            <a:ext cx="101468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odoni MT Black" panose="02070A03080606020203" pitchFamily="18" charset="0"/>
              </a:rPr>
              <a:t>BUSINESS DATA MANAGEMENT CAPSTONE 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A67EF7-81EE-FDAC-5124-3F8C7392D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55640" y="93561"/>
            <a:ext cx="1382798" cy="1382798"/>
          </a:xfrm>
          <a:prstGeom prst="flowChartConnector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140998-8418-8E46-4792-F6357B6068D9}"/>
              </a:ext>
            </a:extLst>
          </p:cNvPr>
          <p:cNvSpPr txBox="1"/>
          <p:nvPr/>
        </p:nvSpPr>
        <p:spPr>
          <a:xfrm>
            <a:off x="691399" y="4817467"/>
            <a:ext cx="2566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lin Sans FB" panose="020E0602020502020306" pitchFamily="34" charset="0"/>
              </a:rPr>
              <a:t>Presented by:</a:t>
            </a:r>
          </a:p>
          <a:p>
            <a:r>
              <a:rPr lang="en-US" sz="2000" dirty="0">
                <a:solidFill>
                  <a:schemeClr val="bg1"/>
                </a:solidFill>
                <a:latin typeface="Berlin Sans FB" panose="020E0602020502020306" pitchFamily="34" charset="0"/>
              </a:rPr>
              <a:t>Chandan Kumar </a:t>
            </a:r>
          </a:p>
          <a:p>
            <a:r>
              <a:rPr lang="en-US" sz="2000" dirty="0">
                <a:solidFill>
                  <a:schemeClr val="bg1"/>
                </a:solidFill>
                <a:latin typeface="Berlin Sans FB" panose="020E0602020502020306" pitchFamily="34" charset="0"/>
              </a:rPr>
              <a:t>23f1003153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857FA-6A63-4E08-FB66-BBC8ABA4CF30}"/>
              </a:ext>
            </a:extLst>
          </p:cNvPr>
          <p:cNvSpPr txBox="1"/>
          <p:nvPr/>
        </p:nvSpPr>
        <p:spPr>
          <a:xfrm>
            <a:off x="691399" y="2540819"/>
            <a:ext cx="44146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Project on:</a:t>
            </a:r>
          </a:p>
          <a:p>
            <a:r>
              <a:rPr lang="en-US" sz="240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Data-Driven Sales, Inventory, and Profit Optimization in Agricultural Retail Business</a:t>
            </a:r>
          </a:p>
        </p:txBody>
      </p:sp>
    </p:spTree>
    <p:extLst>
      <p:ext uri="{BB962C8B-B14F-4D97-AF65-F5344CB8AC3E}">
        <p14:creationId xmlns:p14="http://schemas.microsoft.com/office/powerpoint/2010/main" val="900661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8295B5-BC3A-3267-57F0-25AE773AA3F7}"/>
              </a:ext>
            </a:extLst>
          </p:cNvPr>
          <p:cNvSpPr txBox="1"/>
          <p:nvPr/>
        </p:nvSpPr>
        <p:spPr>
          <a:xfrm>
            <a:off x="457200" y="274320"/>
            <a:ext cx="72745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Organization Background</a:t>
            </a:r>
          </a:p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Krishi Khad </a:t>
            </a:r>
            <a:r>
              <a:rPr lang="en-US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Bhandar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Agricultural retail shop located in </a:t>
            </a:r>
            <a:r>
              <a:rPr lang="en-US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Belhariya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, Gaya, Bihar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Established 20 years ago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Business Type : B2B and B2C both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Supplies: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Fertilizers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Seeds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Pesticides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Serves: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Farmers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Local retailers</a:t>
            </a:r>
          </a:p>
          <a:p>
            <a:pPr lvl="1"/>
            <a:endParaRPr lang="en-US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Dataset used: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	Sales records from March 2023 – December 2025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Key business challenges: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Difficulty understanding seasonal sales trends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Inventory management issues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Uneven regional revenue distribution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Storage space constraints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15D709-F079-DEFF-D3D3-E7DD8880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960" y="0"/>
            <a:ext cx="4257040" cy="55575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016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3EDF419-8465-B32C-551A-70F548B3F3B0}"/>
              </a:ext>
            </a:extLst>
          </p:cNvPr>
          <p:cNvSpPr txBox="1"/>
          <p:nvPr/>
        </p:nvSpPr>
        <p:spPr>
          <a:xfrm>
            <a:off x="111760" y="106799"/>
            <a:ext cx="628248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Collection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Dataset used in the project includes sales records from 2023–2025.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Variables collected:                                 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Transaction Date      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Product Name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Product Category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Unit Price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Quantity Sold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Total Sales Value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Region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Data Source:</a:t>
            </a:r>
            <a:b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	Shop transaction records and sales registers.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FB4A48-2BF0-36C4-FD23-95DD2966803B}"/>
              </a:ext>
            </a:extLst>
          </p:cNvPr>
          <p:cNvSpPr txBox="1"/>
          <p:nvPr/>
        </p:nvSpPr>
        <p:spPr>
          <a:xfrm>
            <a:off x="284480" y="3611880"/>
            <a:ext cx="58115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 Cleaning &amp; Preparation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Before analysis the dataset was processed using Microsoft Excel.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Data preprocessing steps: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Removing duplicate entries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Handling missing values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Standardizing product names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Organizing dataset into structured format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Purpose:</a:t>
            </a:r>
            <a:b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	Ensure accurate and reliable analysis.</a:t>
            </a:r>
          </a:p>
          <a:p>
            <a:r>
              <a:rPr lang="en-US" dirty="0"/>
              <a:t>j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2AC1A-D0F0-DDE1-DD5F-2741EF1D18E6}"/>
              </a:ext>
            </a:extLst>
          </p:cNvPr>
          <p:cNvSpPr txBox="1"/>
          <p:nvPr/>
        </p:nvSpPr>
        <p:spPr>
          <a:xfrm>
            <a:off x="7802880" y="3774599"/>
            <a:ext cx="27206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Tools used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Excel filtering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Sorting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Pivot tables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Conditional formatting</a:t>
            </a:r>
          </a:p>
          <a:p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AD48A0-7623-62CE-8257-4C80BFA50471}"/>
              </a:ext>
            </a:extLst>
          </p:cNvPr>
          <p:cNvSpPr/>
          <p:nvPr/>
        </p:nvSpPr>
        <p:spPr>
          <a:xfrm>
            <a:off x="111760" y="3611880"/>
            <a:ext cx="11328400" cy="28623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25AC75-B04C-24A6-1C74-A90404F12668}"/>
              </a:ext>
            </a:extLst>
          </p:cNvPr>
          <p:cNvSpPr/>
          <p:nvPr/>
        </p:nvSpPr>
        <p:spPr>
          <a:xfrm>
            <a:off x="6223001" y="3611880"/>
            <a:ext cx="45719" cy="28623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2B1EB6-C5F2-A189-5635-9F18B4FE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249" y="182880"/>
            <a:ext cx="5614670" cy="32461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14856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4209D5-D975-6D5E-FFDE-208D58C3802E}"/>
              </a:ext>
            </a:extLst>
          </p:cNvPr>
          <p:cNvSpPr txBox="1"/>
          <p:nvPr/>
        </p:nvSpPr>
        <p:spPr>
          <a:xfrm>
            <a:off x="193041" y="508000"/>
            <a:ext cx="60350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Problem 1: 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Difficulty in Understanding Seasonal Sales Trends</a:t>
            </a:r>
          </a:p>
          <a:p>
            <a:r>
              <a:rPr lang="en-US" b="1" dirty="0">
                <a:solidFill>
                  <a:schemeClr val="bg1"/>
                </a:solidFill>
              </a:rPr>
              <a:t>Background: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Although the store has accumulated several years of sales data, it is not utilized effectively for decision-making. Specifically, the store cannot identify which season generates the highest revenue.</a:t>
            </a:r>
          </a:p>
          <a:p>
            <a:r>
              <a:rPr lang="en-US" b="1" dirty="0">
                <a:solidFill>
                  <a:schemeClr val="bg1"/>
                </a:solidFill>
              </a:rPr>
              <a:t>Objective: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	Identify sales trends and seasonal demand patterns using 	trend analysis.</a:t>
            </a:r>
          </a:p>
          <a:p>
            <a:r>
              <a:rPr lang="en-US" b="1" dirty="0">
                <a:solidFill>
                  <a:schemeClr val="bg1"/>
                </a:solidFill>
              </a:rPr>
              <a:t>Key 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Sales show a strong seasonal pattern.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Peak demand in July (Kharif season) and Nov–Dec (Rabi season).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Demand for seeds and fertilizers follows crop sowing cycles.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80558FD-8F47-BF7C-5F39-E5D7D2C65E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1308480"/>
              </p:ext>
            </p:extLst>
          </p:nvPr>
        </p:nvGraphicFramePr>
        <p:xfrm>
          <a:off x="6410960" y="508000"/>
          <a:ext cx="5201920" cy="481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53170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8C0E19-DC2C-D3D2-CEAF-5AF37472C932}"/>
              </a:ext>
            </a:extLst>
          </p:cNvPr>
          <p:cNvSpPr txBox="1"/>
          <p:nvPr/>
        </p:nvSpPr>
        <p:spPr>
          <a:xfrm>
            <a:off x="0" y="304800"/>
            <a:ext cx="631952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Problem 2 : Inventory management issues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Background:</a:t>
            </a:r>
            <a:b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Agricultural demand is highly seasonal, causing large fluctuations in product sales and making inventory planning difficult.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Objective:</a:t>
            </a:r>
            <a:b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	Evaluate demand variability across products using the 	Coefficient of Variation (CV) and determine appropriate 	Safety Stock levels.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Key Insights: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Several products show high demand variability, increasing inventory risk.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Spinach, Mustard, and DAP have very high CV values, indicating unpredictable demand.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High-demand products like Paddy and Urea require larger safety stock to prevent stockouts during peak seasons.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Stable products such as Sulphate and Phosphate require lower buffer inventory.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046E6E-3E6F-60BD-3578-93DA498C3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45" y="384944"/>
            <a:ext cx="5228535" cy="32624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7A843D-AB65-0AA1-1611-36CEA28B0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345" y="3910464"/>
            <a:ext cx="5228535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27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B68D3D-A42D-7334-1D71-4E9E490F3467}"/>
              </a:ext>
            </a:extLst>
          </p:cNvPr>
          <p:cNvSpPr txBox="1"/>
          <p:nvPr/>
        </p:nvSpPr>
        <p:spPr>
          <a:xfrm>
            <a:off x="284480" y="0"/>
            <a:ext cx="119075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Problem 3: Uneven Regional Revenue Distribution</a:t>
            </a:r>
          </a:p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Background:</a:t>
            </a:r>
            <a:b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Lack of regional sales analysis makes it difficult to plan inventory, manage storage space, and understand differences in demand across villages.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Objective:</a:t>
            </a:r>
            <a:b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	Analyze regional revenue contribution to identify high-performing and low-performing markets.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Key 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Revenue is highly concentrated in a few regions.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Manjhiyama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 and </a:t>
            </a:r>
            <a:r>
              <a:rPr lang="en-US" b="1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Bhadya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 contribute the highest share of total revenue.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Several regions such as </a:t>
            </a:r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Sarwan, </a:t>
            </a:r>
            <a:r>
              <a:rPr lang="en-US" b="1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Musaila</a:t>
            </a:r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, </a:t>
            </a:r>
            <a:r>
              <a:rPr lang="en-US" b="1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Paroriya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, and </a:t>
            </a:r>
            <a:r>
              <a:rPr lang="en-US" b="1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Buniyadbigha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 generate relatively low sales.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Overdependence on a few regions increases business risk if demand declines in those areas.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C0AEB6-5761-9D73-B0DD-556C4C63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3477875"/>
            <a:ext cx="10505440" cy="33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54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BA91CC-9353-DF9E-6C64-8E28FBF512CE}"/>
              </a:ext>
            </a:extLst>
          </p:cNvPr>
          <p:cNvSpPr txBox="1"/>
          <p:nvPr/>
        </p:nvSpPr>
        <p:spPr>
          <a:xfrm>
            <a:off x="1" y="0"/>
            <a:ext cx="521208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Problem 4: 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Limited Storage Space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Background:</a:t>
            </a:r>
            <a:b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	Limited storage space in the shop leads to 	inefficient stock management, especially during 	peak agricultural seasons when multiple fertilizers 	arrive simultaneously.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Objective:</a:t>
            </a:r>
            <a:b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</a:b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	Understand relationships between products using 	correlation analysis to optimize storage and 	stocking strategies.</a:t>
            </a:r>
          </a:p>
          <a:p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Key Insight : 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Complementary Product Demand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Strong positive correlations exist between Urea, Potash, Sulphate, and DAP.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Farmers often purchase these fertilizers together during the same crop cycle.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This indicates complementary demand among these products.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DEBE5D-E7BB-FB2B-980C-A89A1E3A4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350" y="715010"/>
            <a:ext cx="6074410" cy="271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25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E98878-1C6F-41B4-4B72-6FEB7DE56DA7}"/>
              </a:ext>
            </a:extLst>
          </p:cNvPr>
          <p:cNvSpPr txBox="1"/>
          <p:nvPr/>
        </p:nvSpPr>
        <p:spPr>
          <a:xfrm>
            <a:off x="-40640" y="958443"/>
            <a:ext cx="613661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Difficulty in Understanding Seasonal Sales Trends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Seasonal Inventory Planning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Increase stock before June–July (Kharif season).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Increase stock before October–November (Rabi season).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Reduce inventory during March–May off-season.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139AA-C6E6-52D3-91F4-956F7A7DE01E}"/>
              </a:ext>
            </a:extLst>
          </p:cNvPr>
          <p:cNvSpPr txBox="1"/>
          <p:nvPr/>
        </p:nvSpPr>
        <p:spPr>
          <a:xfrm>
            <a:off x="6268720" y="958443"/>
            <a:ext cx="59232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Inventory management issues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Implement seasonal inventory planning by increasing stock before major sowing seasons.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Maintain higher safety stock for high-CV products to avoid stockouts.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Use moderate inventory levels for medium variability products and regular replenishment for stable products.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Monitor demand patterns regularly to adjust stock levels and reduce excess inventory.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71D80-CA50-0002-DEEB-C8AC983D5A16}"/>
              </a:ext>
            </a:extLst>
          </p:cNvPr>
          <p:cNvSpPr txBox="1"/>
          <p:nvPr/>
        </p:nvSpPr>
        <p:spPr>
          <a:xfrm>
            <a:off x="-20320" y="3995678"/>
            <a:ext cx="553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Uneven Regional Revenue Distribution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Maintain higher inventory availability in high-performing regions to avoid stock shortages.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Implement targeted promotions and awareness campaigns in medium-performing regions.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Explore distribution expansion and improved accessibility in low-performing regions.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Diversify sales across more villages to reduce revenue concentration risk.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988C55-7E03-E0AB-A1D0-FE2773EF1410}"/>
              </a:ext>
            </a:extLst>
          </p:cNvPr>
          <p:cNvSpPr txBox="1"/>
          <p:nvPr/>
        </p:nvSpPr>
        <p:spPr>
          <a:xfrm>
            <a:off x="6268720" y="3990598"/>
            <a:ext cx="553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Limited Storage Space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Bundle-Based Product Strategy: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Stock Urea, Potash,  Sulphate, and DAP together to improve storage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Offer fertilizer bundle deals during peak farming seasons.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Arrange complementary products in the same storage or display area to simplify inventory management and improve sales.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E5671B-9217-725B-8321-ED47EDA53ACE}"/>
              </a:ext>
            </a:extLst>
          </p:cNvPr>
          <p:cNvSpPr txBox="1"/>
          <p:nvPr/>
        </p:nvSpPr>
        <p:spPr>
          <a:xfrm>
            <a:off x="4350619" y="0"/>
            <a:ext cx="429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Business Recommendations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C4D58C-6BD2-3039-C3FF-2AFBBB789BBF}"/>
              </a:ext>
            </a:extLst>
          </p:cNvPr>
          <p:cNvCxnSpPr/>
          <p:nvPr/>
        </p:nvCxnSpPr>
        <p:spPr>
          <a:xfrm>
            <a:off x="5974080" y="461665"/>
            <a:ext cx="0" cy="639633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F2B66D-DE3C-9B24-729D-E528C80116DC}"/>
              </a:ext>
            </a:extLst>
          </p:cNvPr>
          <p:cNvCxnSpPr/>
          <p:nvPr/>
        </p:nvCxnSpPr>
        <p:spPr>
          <a:xfrm>
            <a:off x="0" y="3789680"/>
            <a:ext cx="1219200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1514B8-B370-4C42-4440-5B75D9DDC512}"/>
              </a:ext>
            </a:extLst>
          </p:cNvPr>
          <p:cNvCxnSpPr/>
          <p:nvPr/>
        </p:nvCxnSpPr>
        <p:spPr>
          <a:xfrm>
            <a:off x="-30480" y="461665"/>
            <a:ext cx="1222248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308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29DDF17-FBF9-0A45-26FF-52FE2CA05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1070" y="591232"/>
            <a:ext cx="1462690" cy="1097361"/>
          </a:xfrm>
          <a:prstGeom prst="rightArrow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2796CC-6D2A-D578-682D-FF3B2433671A}"/>
              </a:ext>
            </a:extLst>
          </p:cNvPr>
          <p:cNvSpPr txBox="1"/>
          <p:nvPr/>
        </p:nvSpPr>
        <p:spPr>
          <a:xfrm>
            <a:off x="2286671" y="798783"/>
            <a:ext cx="82541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Inventory Automation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Adopt basic inventory management software to track stock levels and reduce shortages.</a:t>
            </a:r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20AD9F0-9096-0C67-4BA1-1B3135543F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39" y="1688593"/>
            <a:ext cx="1731869" cy="1359408"/>
          </a:xfrm>
          <a:prstGeom prst="rightArrow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D32D9D-D0B0-7AE5-4DC2-45578359E22A}"/>
              </a:ext>
            </a:extLst>
          </p:cNvPr>
          <p:cNvSpPr txBox="1"/>
          <p:nvPr/>
        </p:nvSpPr>
        <p:spPr>
          <a:xfrm>
            <a:off x="2367503" y="2003265"/>
            <a:ext cx="8254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Demand Forecasting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Use time-series forecasting models to predict seasonal demand more accurately.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8DC096-E947-DE45-98EF-D90DB6F9BF0A}"/>
              </a:ext>
            </a:extLst>
          </p:cNvPr>
          <p:cNvSpPr txBox="1"/>
          <p:nvPr/>
        </p:nvSpPr>
        <p:spPr>
          <a:xfrm>
            <a:off x="2367503" y="3421291"/>
            <a:ext cx="86597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Regional Market Expansion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Expand sales in low-performing regions through awareness campaigns and better distribution.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094631-DD43-441C-CC36-C34BF8340A2F}"/>
              </a:ext>
            </a:extLst>
          </p:cNvPr>
          <p:cNvSpPr txBox="1"/>
          <p:nvPr/>
        </p:nvSpPr>
        <p:spPr>
          <a:xfrm>
            <a:off x="2368215" y="4545900"/>
            <a:ext cx="96439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Digital Sales &amp; Delivery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Introduce phone/WhatsApp ordering and home delivery for farmers or local retailers in nearby villages.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D6D00D-42D7-843D-5D4C-4C8859EC8D67}"/>
              </a:ext>
            </a:extLst>
          </p:cNvPr>
          <p:cNvSpPr txBox="1"/>
          <p:nvPr/>
        </p:nvSpPr>
        <p:spPr>
          <a:xfrm>
            <a:off x="2327311" y="5700990"/>
            <a:ext cx="9302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Data-Driven Decision Making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Continuously analyze sales data to improve inventory planning, marketing, and storage management.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740791-5185-6587-F43E-1F8866CAB777}"/>
              </a:ext>
            </a:extLst>
          </p:cNvPr>
          <p:cNvSpPr txBox="1"/>
          <p:nvPr/>
        </p:nvSpPr>
        <p:spPr>
          <a:xfrm>
            <a:off x="4368800" y="51812"/>
            <a:ext cx="40975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Improvement &amp; Future Growth</a:t>
            </a:r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7BF4D28-6628-CC46-BFD6-FD5E3DE184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64739" y="3048001"/>
            <a:ext cx="1650141" cy="1204482"/>
          </a:xfrm>
          <a:prstGeom prst="rightArrow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982A8E8-E3DE-3113-771F-4ED15A80BE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21950" y="4231685"/>
            <a:ext cx="1692930" cy="1237545"/>
          </a:xfrm>
          <a:prstGeom prst="rightArrow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9ED0E29-3F47-320E-D7A8-DDC2BEE6A7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493619" y="5532792"/>
            <a:ext cx="1650141" cy="1061047"/>
          </a:xfrm>
          <a:prstGeom prst="rightArrow">
            <a:avLst/>
          </a:prstGeom>
        </p:spPr>
      </p:pic>
    </p:spTree>
    <p:extLst>
      <p:ext uri="{BB962C8B-B14F-4D97-AF65-F5344CB8AC3E}">
        <p14:creationId xmlns:p14="http://schemas.microsoft.com/office/powerpoint/2010/main" val="711071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589861-1382-197A-AB79-4E95FB09F996}"/>
              </a:ext>
            </a:extLst>
          </p:cNvPr>
          <p:cNvSpPr/>
          <p:nvPr/>
        </p:nvSpPr>
        <p:spPr>
          <a:xfrm>
            <a:off x="3586952" y="4766270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DBBB8-A3A6-8CA7-128D-787E73E34F33}"/>
              </a:ext>
            </a:extLst>
          </p:cNvPr>
          <p:cNvSpPr txBox="1"/>
          <p:nvPr/>
        </p:nvSpPr>
        <p:spPr>
          <a:xfrm>
            <a:off x="753644" y="2280195"/>
            <a:ext cx="970099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                                                    </a:t>
            </a:r>
            <a:r>
              <a:rPr lang="en-US" sz="2800" b="1" dirty="0">
                <a:solidFill>
                  <a:schemeClr val="bg1"/>
                </a:solidFill>
              </a:rPr>
              <a:t>Project Impact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 recommendations provided are simple, practical, and data-driven steps, not complex theories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By implementing these strategies agricultural store can move from state of reaction to one of control.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1BB03B-E3D1-2AFF-E4FC-E3CA9F0346E0}"/>
              </a:ext>
            </a:extLst>
          </p:cNvPr>
          <p:cNvSpPr/>
          <p:nvPr/>
        </p:nvSpPr>
        <p:spPr>
          <a:xfrm>
            <a:off x="223520" y="2062480"/>
            <a:ext cx="10891520" cy="21234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C6C0A6-3413-9C9E-61AB-4F38640B2F23}"/>
              </a:ext>
            </a:extLst>
          </p:cNvPr>
          <p:cNvCxnSpPr>
            <a:cxnSpLocks/>
          </p:cNvCxnSpPr>
          <p:nvPr/>
        </p:nvCxnSpPr>
        <p:spPr>
          <a:xfrm>
            <a:off x="386080" y="812800"/>
            <a:ext cx="1152144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5AACE1-75F1-6E48-DD5F-D0BBF9820E4E}"/>
              </a:ext>
            </a:extLst>
          </p:cNvPr>
          <p:cNvSpPr txBox="1"/>
          <p:nvPr/>
        </p:nvSpPr>
        <p:spPr>
          <a:xfrm>
            <a:off x="4399280" y="222290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65049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1217</TotalTime>
  <Words>921</Words>
  <Application>Microsoft Office PowerPoint</Application>
  <PresentationFormat>Widescreen</PresentationFormat>
  <Paragraphs>127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Aptos</vt:lpstr>
      <vt:lpstr>Arial</vt:lpstr>
      <vt:lpstr>Arial Black</vt:lpstr>
      <vt:lpstr>Bahnschrift</vt:lpstr>
      <vt:lpstr>Baskerville Old Face</vt:lpstr>
      <vt:lpstr>Berlin Sans FB</vt:lpstr>
      <vt:lpstr>Bodoni MT Black</vt:lpstr>
      <vt:lpstr>Calibri Bold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 Kumar</dc:creator>
  <cp:lastModifiedBy>Chandan Kumar</cp:lastModifiedBy>
  <cp:revision>3</cp:revision>
  <dcterms:created xsi:type="dcterms:W3CDTF">2026-03-13T03:39:59Z</dcterms:created>
  <dcterms:modified xsi:type="dcterms:W3CDTF">2026-03-17T11:25:27Z</dcterms:modified>
</cp:coreProperties>
</file>